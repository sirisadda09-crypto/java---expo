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b="1" dirty="0"/>
              <a:t>Hospital ER Triage System</a:t>
            </a:r>
            <a:br>
              <a:rPr lang="en-IN" dirty="0"/>
            </a:br>
            <a:r>
              <a:rPr lang="en-IN" sz="2800" dirty="0"/>
              <a:t>Team No: ____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Siri Samhitha 	2620030529</a:t>
            </a:r>
          </a:p>
          <a:p>
            <a:r>
              <a:rPr lang="en-IN" dirty="0"/>
              <a:t>Santhoshi 	2620090054</a:t>
            </a:r>
          </a:p>
          <a:p>
            <a:r>
              <a:rPr lang="en-IN" dirty="0"/>
              <a:t>Roseleena 	2620030212</a:t>
            </a:r>
          </a:p>
          <a:p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10515600" cy="274320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IN" dirty="0" sz="1800"/>
              <a:t xml:space="preserve">Emergency rooms receive patients with very different levels of urgency, and treating them in arrival order can delay critical cases.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This project is a Java console application that registers patients, validates their details, computes a priority score from age, heart rate, oxygen level (SpO2) and severity, and always treats the highest-priority patient first.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Results are classified into four triage levels, saved to a file and summarised with simple statistics. The project applies concepts from all six modules (CO1 to CO6).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101" name="Stat 1"/>
          <p:cNvSpPr txBox="1"/>
          <p:nvPr/>
        </p:nvSpPr>
        <p:spPr>
          <a:xfrm>
            <a:off x="841248" y="45720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>
              <a:buNone/>
            </a:pPr>
            <a:r>
              <a:rPr lang="en-IN" dirty="0" sz="3200" b="1">
                <a:solidFill>
                  <a:srgbClr val="9E1B20"/>
                </a:solidFill>
              </a:rPr>
              <a:t xml:space="preserve">6</a:t>
            </a:r>
          </a:p>
          <a:p>
            <a:pPr marL="0" indent="0">
              <a:buNone/>
            </a:pPr>
            <a:r>
              <a:rPr lang="en-IN" dirty="0" sz="1400">
                <a:solidFill>
                  <a:srgbClr val="111827"/>
                </a:solidFill>
              </a:rPr>
              <a:t xml:space="preserve">Modules covered (CO1-CO6)</a:t>
            </a:r>
          </a:p>
        </p:txBody>
      </p:sp>
      <p:sp>
        <p:nvSpPr>
          <p:cNvPr id="102" name="Stat 2"/>
          <p:cNvSpPr txBox="1"/>
          <p:nvPr/>
        </p:nvSpPr>
        <p:spPr>
          <a:xfrm>
            <a:off x="4407408" y="45720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>
              <a:buNone/>
            </a:pPr>
            <a:r>
              <a:rPr lang="en-IN" dirty="0" sz="3200" b="1">
                <a:solidFill>
                  <a:srgbClr val="9E1B20"/>
                </a:solidFill>
              </a:rPr>
              <a:t xml:space="preserve">4</a:t>
            </a:r>
          </a:p>
          <a:p>
            <a:pPr marL="0" indent="0">
              <a:buNone/>
            </a:pPr>
            <a:r>
              <a:rPr lang="en-IN" dirty="0" sz="1400">
                <a:solidFill>
                  <a:srgbClr val="111827"/>
                </a:solidFill>
              </a:rPr>
              <a:t xml:space="preserve">Triage levels</a:t>
            </a:r>
          </a:p>
        </p:txBody>
      </p:sp>
      <p:sp>
        <p:nvSpPr>
          <p:cNvPr id="103" name="Stat 3"/>
          <p:cNvSpPr txBox="1"/>
          <p:nvPr/>
        </p:nvSpPr>
        <p:spPr>
          <a:xfrm>
            <a:off x="7973568" y="45720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>
              <a:buNone/>
            </a:pPr>
            <a:r>
              <a:rPr lang="en-IN" dirty="0" sz="3200" b="1">
                <a:solidFill>
                  <a:srgbClr val="9E1B20"/>
                </a:solidFill>
              </a:rPr>
              <a:t xml:space="preserve">5</a:t>
            </a:r>
          </a:p>
          <a:p>
            <a:pPr marL="0" indent="0">
              <a:buNone/>
            </a:pPr>
            <a:r>
              <a:rPr lang="en-IN" dirty="0" sz="1400">
                <a:solidFill>
                  <a:srgbClr val="111827"/>
                </a:solidFill>
              </a:rPr>
              <a:t xml:space="preserve">Sample patients tested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303520" cy="329184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IN" dirty="0" sz="1800"/>
              <a:t xml:space="preserve">An ER treats patients of very different urgency; arrival order is not a safe rule.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Manual scoring is slow and error-prone.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Goal: validate records, score from vitals, treat the highest priority first, and log the results.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104" name="Level RED"/>
          <p:cNvSpPr txBox="1"/>
          <p:nvPr/>
        </p:nvSpPr>
        <p:spPr>
          <a:xfrm>
            <a:off x="6355080" y="1783080"/>
            <a:ext cx="1371600" cy="621792"/>
          </a:xfrm>
          <a:prstGeom prst="rect">
            <a:avLst/>
          </a:prstGeom>
          <a:solidFill>
            <a:srgbClr val="9E1B20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600" b="1">
                <a:solidFill>
                  <a:srgbClr val="FFFFFF"/>
                </a:solidFill>
              </a:rPr>
              <a:t xml:space="preserve">RED</a:t>
            </a:r>
          </a:p>
        </p:txBody>
      </p:sp>
      <p:sp>
        <p:nvSpPr>
          <p:cNvPr id="105" name="Level RED text"/>
          <p:cNvSpPr txBox="1"/>
          <p:nvPr/>
        </p:nvSpPr>
        <p:spPr>
          <a:xfrm>
            <a:off x="7726680" y="1783080"/>
            <a:ext cx="361188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>
              <a:buNone/>
            </a:pPr>
            <a:r>
              <a:rPr lang="en-IN" dirty="0" sz="1600">
                <a:solidFill>
                  <a:srgbClr val="111827"/>
                </a:solidFill>
              </a:rPr>
              <a:t xml:space="preserve">Immediate: score 110+</a:t>
            </a:r>
          </a:p>
        </p:txBody>
      </p:sp>
      <p:sp>
        <p:nvSpPr>
          <p:cNvPr id="106" name="Level ORANGE"/>
          <p:cNvSpPr txBox="1"/>
          <p:nvPr/>
        </p:nvSpPr>
        <p:spPr>
          <a:xfrm>
            <a:off x="6355080" y="2532888"/>
            <a:ext cx="1371600" cy="6217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600" b="1">
                <a:solidFill>
                  <a:srgbClr val="FFFFFF"/>
                </a:solidFill>
              </a:rPr>
              <a:t xml:space="preserve">ORANGE</a:t>
            </a:r>
          </a:p>
        </p:txBody>
      </p:sp>
      <p:sp>
        <p:nvSpPr>
          <p:cNvPr id="107" name="Level ORANGE text"/>
          <p:cNvSpPr txBox="1"/>
          <p:nvPr/>
        </p:nvSpPr>
        <p:spPr>
          <a:xfrm>
            <a:off x="7726680" y="2532888"/>
            <a:ext cx="361188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>
              <a:buNone/>
            </a:pPr>
            <a:r>
              <a:rPr lang="en-IN" dirty="0" sz="1600">
                <a:solidFill>
                  <a:srgbClr val="111827"/>
                </a:solidFill>
              </a:rPr>
              <a:t xml:space="preserve">Emergent: score 80-109</a:t>
            </a:r>
          </a:p>
        </p:txBody>
      </p:sp>
      <p:sp>
        <p:nvSpPr>
          <p:cNvPr id="108" name="Level YELLOW"/>
          <p:cNvSpPr txBox="1"/>
          <p:nvPr/>
        </p:nvSpPr>
        <p:spPr>
          <a:xfrm>
            <a:off x="6355080" y="3282696"/>
            <a:ext cx="1371600" cy="621792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600" b="1">
                <a:solidFill>
                  <a:srgbClr val="111827"/>
                </a:solidFill>
              </a:rPr>
              <a:t xml:space="preserve">YELLOW</a:t>
            </a:r>
          </a:p>
        </p:txBody>
      </p:sp>
      <p:sp>
        <p:nvSpPr>
          <p:cNvPr id="109" name="Level YELLOW text"/>
          <p:cNvSpPr txBox="1"/>
          <p:nvPr/>
        </p:nvSpPr>
        <p:spPr>
          <a:xfrm>
            <a:off x="7726680" y="3282696"/>
            <a:ext cx="361188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>
              <a:buNone/>
            </a:pPr>
            <a:r>
              <a:rPr lang="en-IN" dirty="0" sz="1600">
                <a:solidFill>
                  <a:srgbClr val="111827"/>
                </a:solidFill>
              </a:rPr>
              <a:t xml:space="preserve">Urgent: score 50-79</a:t>
            </a:r>
          </a:p>
        </p:txBody>
      </p:sp>
      <p:sp>
        <p:nvSpPr>
          <p:cNvPr id="110" name="Level GREEN"/>
          <p:cNvSpPr txBox="1"/>
          <p:nvPr/>
        </p:nvSpPr>
        <p:spPr>
          <a:xfrm>
            <a:off x="6355080" y="4032504"/>
            <a:ext cx="1371600" cy="62179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600" b="1">
                <a:solidFill>
                  <a:srgbClr val="FFFFFF"/>
                </a:solidFill>
              </a:rPr>
              <a:t xml:space="preserve">GREEN</a:t>
            </a:r>
          </a:p>
        </p:txBody>
      </p:sp>
      <p:sp>
        <p:nvSpPr>
          <p:cNvPr id="111" name="Level GREEN text"/>
          <p:cNvSpPr txBox="1"/>
          <p:nvPr/>
        </p:nvSpPr>
        <p:spPr>
          <a:xfrm>
            <a:off x="7726680" y="4032504"/>
            <a:ext cx="361188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>
              <a:buNone/>
            </a:pPr>
            <a:r>
              <a:rPr lang="en-IN" dirty="0" sz="1600">
                <a:solidFill>
                  <a:srgbClr val="111827"/>
                </a:solidFill>
              </a:rPr>
              <a:t xml:space="preserve">Non-urgent: below 50</a:t>
            </a:r>
          </a:p>
        </p:txBody>
      </p:sp>
      <p:sp>
        <p:nvSpPr>
          <p:cNvPr id="112" name="Flow Register"/>
          <p:cNvSpPr txBox="1"/>
          <p:nvPr/>
        </p:nvSpPr>
        <p:spPr>
          <a:xfrm>
            <a:off x="841248" y="5257800"/>
            <a:ext cx="1463040" cy="59436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500" b="1">
                <a:solidFill>
                  <a:srgbClr val="FFFFFF"/>
                </a:solidFill>
              </a:rPr>
              <a:t xml:space="preserve">Register</a:t>
            </a:r>
          </a:p>
        </p:txBody>
      </p:sp>
      <p:sp>
        <p:nvSpPr>
          <p:cNvPr id="113" name="Arrow 0"/>
          <p:cNvSpPr txBox="1"/>
          <p:nvPr/>
        </p:nvSpPr>
        <p:spPr>
          <a:xfrm>
            <a:off x="2304288" y="5257800"/>
            <a:ext cx="3017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IN" dirty="0" sz="1800" b="1">
                <a:solidFill>
                  <a:srgbClr val="6B7280"/>
                </a:solidFill>
              </a:rPr>
              <a:t xml:space="preserve">&gt;</a:t>
            </a:r>
          </a:p>
        </p:txBody>
      </p:sp>
      <p:sp>
        <p:nvSpPr>
          <p:cNvPr id="114" name="Flow Validate"/>
          <p:cNvSpPr txBox="1"/>
          <p:nvPr/>
        </p:nvSpPr>
        <p:spPr>
          <a:xfrm>
            <a:off x="2606040" y="5257800"/>
            <a:ext cx="1463040" cy="59436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500" b="1">
                <a:solidFill>
                  <a:srgbClr val="FFFFFF"/>
                </a:solidFill>
              </a:rPr>
              <a:t xml:space="preserve">Validate</a:t>
            </a:r>
          </a:p>
        </p:txBody>
      </p:sp>
      <p:sp>
        <p:nvSpPr>
          <p:cNvPr id="115" name="Arrow 1"/>
          <p:cNvSpPr txBox="1"/>
          <p:nvPr/>
        </p:nvSpPr>
        <p:spPr>
          <a:xfrm>
            <a:off x="4069080" y="5257800"/>
            <a:ext cx="3017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IN" dirty="0" sz="1800" b="1">
                <a:solidFill>
                  <a:srgbClr val="6B7280"/>
                </a:solidFill>
              </a:rPr>
              <a:t xml:space="preserve">&gt;</a:t>
            </a:r>
          </a:p>
        </p:txBody>
      </p:sp>
      <p:sp>
        <p:nvSpPr>
          <p:cNvPr id="116" name="Flow Score"/>
          <p:cNvSpPr txBox="1"/>
          <p:nvPr/>
        </p:nvSpPr>
        <p:spPr>
          <a:xfrm>
            <a:off x="4370832" y="5257800"/>
            <a:ext cx="1463040" cy="594360"/>
          </a:xfrm>
          <a:prstGeom prst="roundRect">
            <a:avLst>
              <a:gd name="adj" fmla="val 12000"/>
            </a:avLst>
          </a:prstGeom>
          <a:solidFill>
            <a:srgbClr val="9E1B20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500" b="1">
                <a:solidFill>
                  <a:srgbClr val="FFFFFF"/>
                </a:solidFill>
              </a:rPr>
              <a:t xml:space="preserve">Score</a:t>
            </a:r>
          </a:p>
        </p:txBody>
      </p:sp>
      <p:sp>
        <p:nvSpPr>
          <p:cNvPr id="117" name="Arrow 2"/>
          <p:cNvSpPr txBox="1"/>
          <p:nvPr/>
        </p:nvSpPr>
        <p:spPr>
          <a:xfrm>
            <a:off x="5833872" y="5257800"/>
            <a:ext cx="3017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IN" dirty="0" sz="1800" b="1">
                <a:solidFill>
                  <a:srgbClr val="6B7280"/>
                </a:solidFill>
              </a:rPr>
              <a:t xml:space="preserve">&gt;</a:t>
            </a:r>
          </a:p>
        </p:txBody>
      </p:sp>
      <p:sp>
        <p:nvSpPr>
          <p:cNvPr id="118" name="Flow Queue"/>
          <p:cNvSpPr txBox="1"/>
          <p:nvPr/>
        </p:nvSpPr>
        <p:spPr>
          <a:xfrm>
            <a:off x="6135624" y="5257800"/>
            <a:ext cx="1463040" cy="59436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500" b="1">
                <a:solidFill>
                  <a:srgbClr val="FFFFFF"/>
                </a:solidFill>
              </a:rPr>
              <a:t xml:space="preserve">Queue</a:t>
            </a:r>
          </a:p>
        </p:txBody>
      </p:sp>
      <p:sp>
        <p:nvSpPr>
          <p:cNvPr id="119" name="Arrow 3"/>
          <p:cNvSpPr txBox="1"/>
          <p:nvPr/>
        </p:nvSpPr>
        <p:spPr>
          <a:xfrm>
            <a:off x="7598664" y="5257800"/>
            <a:ext cx="3017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IN" dirty="0" sz="1800" b="1">
                <a:solidFill>
                  <a:srgbClr val="6B7280"/>
                </a:solidFill>
              </a:rPr>
              <a:t xml:space="preserve">&gt;</a:t>
            </a:r>
          </a:p>
        </p:txBody>
      </p:sp>
      <p:sp>
        <p:nvSpPr>
          <p:cNvPr id="120" name="Flow Treat"/>
          <p:cNvSpPr txBox="1"/>
          <p:nvPr/>
        </p:nvSpPr>
        <p:spPr>
          <a:xfrm>
            <a:off x="7900416" y="5257800"/>
            <a:ext cx="1463040" cy="59436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500" b="1">
                <a:solidFill>
                  <a:srgbClr val="FFFFFF"/>
                </a:solidFill>
              </a:rPr>
              <a:t xml:space="preserve">Treat</a:t>
            </a:r>
          </a:p>
        </p:txBody>
      </p:sp>
      <p:sp>
        <p:nvSpPr>
          <p:cNvPr id="121" name="Arrow 4"/>
          <p:cNvSpPr txBox="1"/>
          <p:nvPr/>
        </p:nvSpPr>
        <p:spPr>
          <a:xfrm>
            <a:off x="9363456" y="5257800"/>
            <a:ext cx="3017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IN" dirty="0" sz="1800" b="1">
                <a:solidFill>
                  <a:srgbClr val="6B7280"/>
                </a:solidFill>
              </a:rPr>
              <a:t xml:space="preserve">&gt;</a:t>
            </a:r>
          </a:p>
        </p:txBody>
      </p:sp>
      <p:sp>
        <p:nvSpPr>
          <p:cNvPr id="122" name="Flow Log"/>
          <p:cNvSpPr txBox="1"/>
          <p:nvPr/>
        </p:nvSpPr>
        <p:spPr>
          <a:xfrm>
            <a:off x="9665208" y="5257800"/>
            <a:ext cx="1463040" cy="59436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500" b="1">
                <a:solidFill>
                  <a:srgbClr val="FFFFFF"/>
                </a:solidFill>
              </a:rPr>
              <a:t xml:space="preserve">Log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Topics: Java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074920" cy="438912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IN" dirty="0" sz="1800"/>
              <a:t xml:space="preserve">Java is object-oriented and platform independent (Write Once, Run Anywhere)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Variables and data types: int, double, String, boolean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Operators: arithmetic, relational, logical, assignment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Algorithms, pseudocode, flowcharts and stepwise refinement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123" name="Code"/>
          <p:cNvSpPr txBox="1"/>
          <p:nvPr/>
        </p:nvSpPr>
        <p:spPr>
          <a:xfrm>
            <a:off x="6172200" y="1783080"/>
            <a:ext cx="5166360" cy="2880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int priorityScore() {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int score = severity * 20;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if (heartRate &gt; 120 || heartRate &lt; 50)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  score += 15;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if (spo2 &lt; 90)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  score += 25;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if (age &gt;= 65 || age &lt;= 5)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  score += 10;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return score;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}</a:t>
            </a:r>
          </a:p>
        </p:txBody>
      </p:sp>
      <p:sp>
        <p:nvSpPr>
          <p:cNvPr id="124" name="Used in system"/>
          <p:cNvSpPr txBox="1"/>
          <p:nvPr/>
        </p:nvSpPr>
        <p:spPr>
          <a:xfrm>
            <a:off x="6172200" y="4800600"/>
            <a:ext cx="516636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IN" dirty="0" sz="1500" b="1">
                <a:solidFill>
                  <a:srgbClr val="9E1B20"/>
                </a:solidFill>
              </a:rPr>
              <a:t xml:space="preserve">In the ER Triage System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Variables hold age, heart rate, SpO2, severity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Operators build the priority score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Pseudocode planned the design first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Topics: 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074920" cy="438912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IN" dirty="0" sz="1800"/>
              <a:t xml:space="preserve">Conditional statements: if, if-else, else-if ladder, nested if, switch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Loops: for, while, do-while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Nested loops for repeated comparisons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Logical operators (&amp;&amp;, ||, !) combine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125" name="Code"/>
          <p:cNvSpPr txBox="1"/>
          <p:nvPr/>
        </p:nvSpPr>
        <p:spPr>
          <a:xfrm>
            <a:off x="6172200" y="1783080"/>
            <a:ext cx="5166360" cy="2880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static String triageLevel(int s) {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if (s &gt;= 110)     return "RED";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else if (s &gt;= 80) return "ORANGE";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else if (s &gt;= 50) return "YELLOW";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else              return "GREEN";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switch (level) {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case "RED":    return 0;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case "ORANGE": return 10;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default:       return 60;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while (!queue.isEmpty()) { /* treat */ }</a:t>
            </a:r>
          </a:p>
        </p:txBody>
      </p:sp>
      <p:sp>
        <p:nvSpPr>
          <p:cNvPr id="126" name="Used in system"/>
          <p:cNvSpPr txBox="1"/>
          <p:nvPr/>
        </p:nvSpPr>
        <p:spPr>
          <a:xfrm>
            <a:off x="6172200" y="4800600"/>
            <a:ext cx="516636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IN" dirty="0" sz="1500" b="1">
                <a:solidFill>
                  <a:srgbClr val="9E1B20"/>
                </a:solidFill>
              </a:rPr>
              <a:t xml:space="preserve">In the ER Triage System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else-if ladder gives the triage level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switch gives the waiting time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while loop treats until the queue is empty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Topics: Arrays, OOP,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074920" cy="438912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IN" dirty="0" sz="1800"/>
              <a:t xml:space="preserve">Array: fixed size, same type, index starts at 0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Constructors initialise objects; super() calls the parent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Polymorphism: subclasses override methods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Recursion: a method calls itself with a base case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127" name="Code"/>
          <p:cNvSpPr txBox="1"/>
          <p:nvPr/>
        </p:nvSpPr>
        <p:spPr>
          <a:xfrm>
            <a:off x="6172200" y="1783080"/>
            <a:ext cx="5166360" cy="2880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abstract class Person {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Person(String name) { this.name = name; 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abstract String category();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class Child extends Patient {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Child(String n, int a, int hr, int sp, int sev)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{ super(n, a, hr, sp, sev); 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@Override String category()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{ return "Paediatric"; 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int[] scores = new int[patients.size()];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static int totalWait(int n)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{ return n == 0 ? 0 : 5 + totalWait(n - 1); }</a:t>
            </a:r>
          </a:p>
        </p:txBody>
      </p:sp>
      <p:sp>
        <p:nvSpPr>
          <p:cNvPr id="128" name="Used in system"/>
          <p:cNvSpPr txBox="1"/>
          <p:nvPr/>
        </p:nvSpPr>
        <p:spPr>
          <a:xfrm>
            <a:off x="6172200" y="4800600"/>
            <a:ext cx="516636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IN" dirty="0" sz="1500" b="1">
                <a:solidFill>
                  <a:srgbClr val="9E1B20"/>
                </a:solidFill>
              </a:rPr>
              <a:t xml:space="preserve">In the ER Triage System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Score array holds all priority scores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Child and Senior override category()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totalWait() is computed recursively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4: Encapsulation &amp;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074920" cy="438912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IN" dirty="0" sz="1800"/>
              <a:t xml:space="preserve">Encapsulation: private fields with getters and setters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Setters validate data before storing it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Exceptions are runtime errors handled without crashing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try, catch, finally, throw; custom exceptions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129" name="Code"/>
          <p:cNvSpPr txBox="1"/>
          <p:nvPr/>
        </p:nvSpPr>
        <p:spPr>
          <a:xfrm>
            <a:off x="6172200" y="1783080"/>
            <a:ext cx="5166360" cy="2880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class Patient extends Person {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private int age;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void setAge(int age) {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if (age &lt; 0 || age &gt; 120)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  throw new InvalidPatientException(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      "Invalid age: " + age);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this.age = age;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try {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patients.add(new Patient("Test",150,80,97,2));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catch (InvalidPatientException e) {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System.out.println(e.getMessage());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}</a:t>
            </a:r>
          </a:p>
        </p:txBody>
      </p:sp>
      <p:sp>
        <p:nvSpPr>
          <p:cNvPr id="130" name="Used in system"/>
          <p:cNvSpPr txBox="1"/>
          <p:nvPr/>
        </p:nvSpPr>
        <p:spPr>
          <a:xfrm>
            <a:off x="6172200" y="4800600"/>
            <a:ext cx="516636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IN" dirty="0" sz="1500" b="1">
                <a:solidFill>
                  <a:srgbClr val="9E1B20"/>
                </a:solidFill>
              </a:rPr>
              <a:t xml:space="preserve">In the ER Triage System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Vitals are private with getters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setAge() rejects ages outside 0-120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Invalid record is skipped, program continues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5: Strings, Algorithms, 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074920" cy="438912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IN" dirty="0" sz="1800"/>
              <a:t xml:space="preserve">String is immutable; StringBuilder is mutable; trim, split, substring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Sorting and searching algorithms (e.g., bubble sort)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java.nio.file: Path and Files read and write text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NoSuchFileException handles missing files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131" name="Code"/>
          <p:cNvSpPr txBox="1"/>
          <p:nvPr/>
        </p:nvSpPr>
        <p:spPr>
          <a:xfrm>
            <a:off x="6172200" y="1783080"/>
            <a:ext cx="5166360" cy="2880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Path file = Path.of("data", "triage_log.csv");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Files.write(file, lines);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List&lt;String&gt; saved = Files.readAllLines(file);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// bubble sort (descending)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for (int i = 0; i &lt; a.length - 1; i++)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for (int j = 0; j &lt; a.length - 1 - i; j++)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if (a[j] &lt; a[j+1]) { int t = a[j];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    a[j] = a[j+1]; a[j+1] = t; }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// "  ravi   kumar " -&gt; "Ravi Kumar"</a:t>
            </a:r>
          </a:p>
        </p:txBody>
      </p:sp>
      <p:sp>
        <p:nvSpPr>
          <p:cNvPr id="132" name="Used in system"/>
          <p:cNvSpPr txBox="1"/>
          <p:nvPr/>
        </p:nvSpPr>
        <p:spPr>
          <a:xfrm>
            <a:off x="6172200" y="4800600"/>
            <a:ext cx="516636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IN" dirty="0" sz="1500" b="1">
                <a:solidFill>
                  <a:srgbClr val="9E1B20"/>
                </a:solidFill>
              </a:rPr>
              <a:t xml:space="preserve">In the ER Triage System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formatName() cleans raw patient names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Bubble sort orders the scores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Log saved to triage_log.csv with NIO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6: Collections &amp;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074920" cy="438912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IN" dirty="0" sz="1800"/>
              <a:t xml:space="preserve">Collections: List, Set, Map, Queue (ArrayList, PriorityQueue)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Comparator defines custom ordering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Streams: filter, map, collect, groupingBy, average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Lambda expressions and method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133" name="Code"/>
          <p:cNvSpPr txBox="1"/>
          <p:nvPr/>
        </p:nvSpPr>
        <p:spPr>
          <a:xfrm>
            <a:off x="6172200" y="1783080"/>
            <a:ext cx="5166360" cy="2880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PriorityQueue&lt;Patient&gt; queue = new PriorityQueue&lt;&gt;(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Comparator.comparingInt(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    Patient::priorityScore).reversed());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queue.addAll(patients);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Patient next = queue.poll();  // highest score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double avg = patients.stream()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.mapToInt(Patient::priorityScore)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.average().orElse(0);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patients.stream()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.filter(p -&gt; p.priorityScore() &gt;= 80)</a:t>
            </a:r>
          </a:p>
          <a:p>
            <a:pPr marL="0" indent="0">
              <a:buNone/>
            </a:pPr>
            <a:r>
              <a:rPr lang="en-IN" dirty="0" sz="1200">
                <a:solidFill>
                  <a:srgbClr val="E5E7EB"/>
                </a:solidFill>
                <a:latin typeface="Courier New"/>
                <a:cs typeface="Courier New"/>
              </a:rPr>
              <a:t xml:space="preserve">  .map(Patient::getName).collect(toList());</a:t>
            </a:r>
          </a:p>
        </p:txBody>
      </p:sp>
      <p:sp>
        <p:nvSpPr>
          <p:cNvPr id="134" name="Used in system"/>
          <p:cNvSpPr txBox="1"/>
          <p:nvPr/>
        </p:nvSpPr>
        <p:spPr>
          <a:xfrm>
            <a:off x="6172200" y="4800600"/>
            <a:ext cx="516636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IN" dirty="0" sz="1500" b="1">
                <a:solidFill>
                  <a:srgbClr val="9E1B20"/>
                </a:solidFill>
              </a:rPr>
              <a:t xml:space="preserve">In the ER Triage System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ArrayList stores patients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PriorityQueue serves highest score first</a:t>
            </a:r>
          </a:p>
          <a:p>
            <a:pPr marL="228600" indent="-228600">
              <a:spcAft>
                <a:spcPts val="200"/>
              </a:spcAft>
              <a:buFont typeface="Arial"/>
              <a:buChar char="•"/>
            </a:pPr>
            <a:r>
              <a:rPr lang="en-IN" dirty="0" sz="1400">
                <a:solidFill>
                  <a:srgbClr val="111827"/>
                </a:solidFill>
              </a:rPr>
              <a:t xml:space="preserve">Streams count per level, find critical cases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83080"/>
            <a:ext cx="5669280" cy="4206240"/>
          </a:xfrm>
        </p:spPr>
        <p:txBody>
          <a:bodyPr>
            <a:normAutofit/>
          </a:bodyPr>
          <a:lstStyle/>
          <a:p>
            <a:pPr>
              <a:spcAft>
                <a:spcPts val="900"/>
              </a:spcAft>
            </a:pPr>
            <a:r>
              <a:rPr lang="en-IN" dirty="0" sz="1800"/>
              <a:t xml:space="preserve">Critical patients are treated first, regardless of arrival order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Invalid records are caught by validation and exceptions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Triage log is saved with NIO and summarised with streams</a:t>
            </a:r>
          </a:p>
          <a:p>
            <a:pPr>
              <a:spcAft>
                <a:spcPts val="900"/>
              </a:spcAft>
            </a:pPr>
            <a:r>
              <a:rPr lang="en-IN" dirty="0" sz="1800"/>
              <a:t xml:space="preserve">All six modules (CO1-CO6) are applied in one working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135" name="Future scope"/>
          <p:cNvSpPr txBox="1"/>
          <p:nvPr/>
        </p:nvSpPr>
        <p:spPr>
          <a:xfrm>
            <a:off x="6858000" y="1828800"/>
            <a:ext cx="4480560" cy="2926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IN" dirty="0" sz="1800" b="1">
                <a:solidFill>
                  <a:srgbClr val="9E1B20"/>
                </a:solidFill>
              </a:rPr>
              <a:t xml:space="preserve">Future scope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IN" dirty="0" sz="1600">
                <a:solidFill>
                  <a:srgbClr val="111827"/>
                </a:solidFill>
              </a:rPr>
              <a:t xml:space="preserve">GUI dashboard for the triage desk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IN" dirty="0" sz="1600">
                <a:solidFill>
                  <a:srgbClr val="111827"/>
                </a:solidFill>
              </a:rPr>
              <a:t xml:space="preserve">Database storage of patient history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IN" dirty="0" sz="1600">
                <a:solidFill>
                  <a:srgbClr val="111827"/>
                </a:solidFill>
              </a:rPr>
              <a:t xml:space="preserve">Real-time vitals from monitoring devices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sp>
        <p:nvSpPr>
          <p:cNvPr id="136" name="Output label"/>
          <p:cNvSpPr txBox="1"/>
          <p:nvPr/>
        </p:nvSpPr>
        <p:spPr>
          <a:xfrm>
            <a:off x="841248" y="1600200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IN" dirty="0" sz="1400" b="1">
                <a:solidFill>
                  <a:srgbClr val="9E1B20"/>
                </a:solidFill>
              </a:rPr>
              <a:t xml:space="preserve">Console output</a:t>
            </a:r>
          </a:p>
        </p:txBody>
      </p:sp>
      <p:sp>
        <p:nvSpPr>
          <p:cNvPr id="137" name="Console output"/>
          <p:cNvSpPr txBox="1"/>
          <p:nvPr/>
        </p:nvSpPr>
        <p:spPr>
          <a:xfrm>
            <a:off x="841248" y="1965960"/>
            <a:ext cx="6903720" cy="37490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[Validation] Invalid age: 150 -&gt; record rejected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 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Sorted priority scores: [135, 120, 85, 40, 20]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 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#  Name          Category    Score Triage Level       Wait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1  Suresh Reddy  Geriatric   135   RED - Immediate     0 min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2  Ravi Kumar    Adult       120   RED - Immediate     0 min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3  Baby Arjun    Paediatric  85    ORANGE - Emergent   10 min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4  Anita Rao     Adult       40    GREEN - Non-urgent  60 min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5  Meena Devi    Adult       20    GREEN - Non-urgent  60 min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 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Saved 5 records to data/triage_log.csv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Patients per level: {GREEN=2, ORANGE=1, RED=2}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Average priority score: 80.0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Critical (score &gt;= 80): [Ravi Kumar, Baby Arjun, Suresh Reddy]</a:t>
            </a:r>
          </a:p>
          <a:p>
            <a:pPr marL="0" indent="0">
              <a:buNone/>
            </a:pPr>
            <a:r>
              <a:rPr lang="en-IN" dirty="0" sz="1300">
                <a:solidFill>
                  <a:srgbClr val="E5E7EB"/>
                </a:solidFill>
                <a:latin typeface="Courier New"/>
                <a:cs typeface="Courier New"/>
              </a:rPr>
              <a:t xml:space="preserve">Total wait for 3 queued patients: 15 min</a:t>
            </a:r>
          </a:p>
        </p:txBody>
      </p:sp>
      <p:sp>
        <p:nvSpPr>
          <p:cNvPr id="138" name="Log label"/>
          <p:cNvSpPr txBox="1"/>
          <p:nvPr/>
        </p:nvSpPr>
        <p:spPr>
          <a:xfrm>
            <a:off x="8001000" y="16002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IN" dirty="0" sz="1400" b="1">
                <a:solidFill>
                  <a:srgbClr val="9E1B20"/>
                </a:solidFill>
              </a:rPr>
              <a:t xml:space="preserve">data/triage_log.csv</a:t>
            </a:r>
          </a:p>
        </p:txBody>
      </p:sp>
      <p:sp>
        <p:nvSpPr>
          <p:cNvPr id="139" name="Log file"/>
          <p:cNvSpPr txBox="1"/>
          <p:nvPr/>
        </p:nvSpPr>
        <p:spPr>
          <a:xfrm>
            <a:off x="8001000" y="1965960"/>
            <a:ext cx="333756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>
              <a:buNone/>
            </a:pPr>
            <a:r>
              <a:rPr lang="en-IN" dirty="0" sz="1000">
                <a:solidFill>
                  <a:srgbClr val="E5E7EB"/>
                </a:solidFill>
                <a:latin typeface="Courier New"/>
                <a:cs typeface="Courier New"/>
              </a:rPr>
              <a:t xml:space="preserve">104,Suresh Reddy,135,RED - Immediate</a:t>
            </a:r>
          </a:p>
          <a:p>
            <a:pPr marL="0" indent="0">
              <a:buNone/>
            </a:pPr>
            <a:r>
              <a:rPr lang="en-IN" dirty="0" sz="1000">
                <a:solidFill>
                  <a:srgbClr val="E5E7EB"/>
                </a:solidFill>
                <a:latin typeface="Courier New"/>
                <a:cs typeface="Courier New"/>
              </a:rPr>
              <a:t xml:space="preserve">101,Ravi Kumar,120,RED - Immediate</a:t>
            </a:r>
          </a:p>
          <a:p>
            <a:pPr marL="0" indent="0">
              <a:buNone/>
            </a:pPr>
            <a:r>
              <a:rPr lang="en-IN" dirty="0" sz="1000">
                <a:solidFill>
                  <a:srgbClr val="E5E7EB"/>
                </a:solidFill>
                <a:latin typeface="Courier New"/>
                <a:cs typeface="Courier New"/>
              </a:rPr>
              <a:t xml:space="preserve">103,Baby Arjun,85,ORANGE - Emergent</a:t>
            </a:r>
          </a:p>
          <a:p>
            <a:pPr marL="0" indent="0">
              <a:buNone/>
            </a:pPr>
            <a:r>
              <a:rPr lang="en-IN" dirty="0" sz="1000">
                <a:solidFill>
                  <a:srgbClr val="E5E7EB"/>
                </a:solidFill>
                <a:latin typeface="Courier New"/>
                <a:cs typeface="Courier New"/>
              </a:rPr>
              <a:t xml:space="preserve">102,Anita Rao,40,GREEN - Non-urgent</a:t>
            </a:r>
          </a:p>
          <a:p>
            <a:pPr marL="0" indent="0">
              <a:buNone/>
            </a:pPr>
            <a:r>
              <a:rPr lang="en-IN" dirty="0" sz="1000">
                <a:solidFill>
                  <a:srgbClr val="E5E7EB"/>
                </a:solidFill>
                <a:latin typeface="Courier New"/>
                <a:cs typeface="Courier New"/>
              </a:rPr>
              <a:t xml:space="preserve">105,Meena Devi,20,GREEN - Non-urgent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140" name="Photo box"/>
          <p:cNvSpPr txBox="1"/>
          <p:nvPr/>
        </p:nvSpPr>
        <p:spPr>
          <a:xfrm>
            <a:off x="841248" y="1828800"/>
            <a:ext cx="5120640" cy="4206240"/>
          </a:xfrm>
          <a:prstGeom prst="rect">
            <a:avLst/>
          </a:prstGeom>
          <a:solidFill>
            <a:srgbClr val="F3F4F6"/>
          </a:solidFill>
          <a:ln w="15875">
            <a:solidFill>
              <a:srgbClr val="6B7280"/>
            </a:solidFill>
            <a:prstDash val="dash"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buNone/>
            </a:pPr>
            <a:r>
              <a:rPr lang="en-IN" dirty="0" sz="1600">
                <a:solidFill>
                  <a:srgbClr val="6B7280"/>
                </a:solidFill>
              </a:rPr>
              <a:t xml:space="preserve">Add geo-tagged photo here</a:t>
            </a:r>
          </a:p>
        </p:txBody>
      </p:sp>
      <p:sp>
        <p:nvSpPr>
          <p:cNvPr id="141" name="Link box"/>
          <p:cNvSpPr txBox="1"/>
          <p:nvPr/>
        </p:nvSpPr>
        <p:spPr>
          <a:xfrm>
            <a:off x="6263640" y="1828800"/>
            <a:ext cx="5074920" cy="1737360"/>
          </a:xfrm>
          <a:prstGeom prst="rect">
            <a:avLst/>
          </a:prstGeom>
          <a:solidFill>
            <a:srgbClr val="F3F4F6"/>
          </a:solidFill>
          <a:ln w="15875">
            <a:solidFill>
              <a:srgbClr val="6B7280"/>
            </a:solidFill>
            <a:prstDash val="dash"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Aft>
                <a:spcPts val="300"/>
              </a:spcAft>
              <a:buNone/>
            </a:pPr>
            <a:r>
              <a:rPr lang="en-IN" dirty="0" sz="1600" b="1">
                <a:solidFill>
                  <a:srgbClr val="9E1B20"/>
                </a:solidFill>
              </a:rPr>
              <a:t xml:space="preserve">Git Hub link</a:t>
            </a:r>
          </a:p>
          <a:p>
            <a:pPr marL="0" indent="0" algn="ctr">
              <a:buNone/>
            </a:pPr>
            <a:r>
              <a:rPr lang="en-IN" dirty="0" sz="1500">
                <a:solidFill>
                  <a:srgbClr val="6B7280"/>
                </a:solidFill>
              </a:rPr>
              <a:t xml:space="preserve">Paste repository link here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